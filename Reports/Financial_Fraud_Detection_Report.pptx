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3040" y="173736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8F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FRAUD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8F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SYSTEM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1463040" y="3383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Pipeline  •  Streamlit Live Dashboard  •  End-to-End Project Report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463040" y="3931920"/>
            <a:ext cx="2286000" cy="54864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6" name="Text 3"/>
          <p:cNvSpPr/>
          <p:nvPr/>
        </p:nvSpPr>
        <p:spPr>
          <a:xfrm>
            <a:off x="146304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Internship Project  |  September 2026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 &amp; Problem Statement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 &amp; Scope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3063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Data Understanding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3886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 &amp; Feature Engineering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46634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1732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Building (SMOTE + LR / RF / XGBoost)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13716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08660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Evaluation Metrics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21945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08660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Dashboard (Final Product)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30175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086600" y="3063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Detector, Analytics &amp; Architecture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09360" y="38404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086600" y="3886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Stack, Challenges &amp; Future Work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09360" y="46634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08660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end-to-end Machine Learning system that detects fraudulent financial transactions in real time and exposes insights through an interactive Streamlit dashboard.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03120"/>
            <a:ext cx="2743200" cy="73152"/>
          </a:xfrm>
          <a:prstGeom prst="rect">
            <a:avLst/>
          </a:prstGeom>
          <a:solidFill>
            <a:srgbClr val="EE322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23774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063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35661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5,000+ transactions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 &amp; engineered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/ Excel upload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429000" y="210312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29000" y="2103120"/>
            <a:ext cx="2743200" cy="73152"/>
          </a:xfrm>
          <a:prstGeom prst="rect">
            <a:avLst/>
          </a:prstGeom>
          <a:solidFill>
            <a:srgbClr val="EE322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37744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11880" y="3063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Pipeline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57600" y="35661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SMOTE balancing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 + RF + XGBoost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 evaluation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309360" y="210312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09360" y="2103120"/>
            <a:ext cx="2743200" cy="73152"/>
          </a:xfrm>
          <a:prstGeom prst="rect">
            <a:avLst/>
          </a:prstGeom>
          <a:solidFill>
            <a:srgbClr val="EE322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37744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92240" y="3063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537960" y="35661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cards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detector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Plotly analytics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189720" y="210312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189720" y="2103120"/>
            <a:ext cx="2743200" cy="73152"/>
          </a:xfrm>
          <a:prstGeom prst="rect">
            <a:avLst/>
          </a:prstGeom>
          <a:solidFill>
            <a:srgbClr val="EE322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60" y="2377440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72600" y="3063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Scoring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418320" y="35661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probability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level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reason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institutions lose billions annually to fraud. Manual review does not scale, and class imbalance makes pure accuracy misleading.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743200" cy="2560320"/>
          </a:xfrm>
          <a:prstGeom prst="roundRect">
            <a:avLst>
              <a:gd name="adj" fmla="val 3571"/>
            </a:avLst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377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~9.6%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rate in dataset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(highly imbalanced)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29000" y="2011680"/>
            <a:ext cx="27432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2377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₹39.5K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11880" y="32004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amount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risk in data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2011680"/>
            <a:ext cx="2743200" cy="2560320"/>
          </a:xfrm>
          <a:prstGeom prst="roundRect">
            <a:avLst>
              <a:gd name="adj" fmla="val 3571"/>
            </a:avLst>
          </a:prstGeom>
          <a:solidFill>
            <a:srgbClr val="1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377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492240" y="32004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for instant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89720" y="2011680"/>
            <a:ext cx="27432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0" y="2377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372600" y="32004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reason for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decision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91440" cy="68580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5331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robust ML pipeline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162763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data, engineer features, handle imbalance with SMOTE, train multiple classifiers.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057400"/>
            <a:ext cx="91440" cy="68580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13055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Maximize fraud recall safely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240487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for ROC-AUC / F1 so fraud is caught without flooding reviewers with false alarms.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834640"/>
            <a:ext cx="91440" cy="68580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90779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a live dashboard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318211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app with KPI cards, interactive charts, and a live transaction detector.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611880"/>
            <a:ext cx="91440" cy="68580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68503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every prediction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395935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fraud probability, risk level (HIGH / MEDIUM / LOW), and a human-readable reason.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38912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389120"/>
            <a:ext cx="91440" cy="68580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4622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real data upload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400" y="473659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CSV and Excel; retrain or score on user-provided transaction files.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16636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5166360"/>
            <a:ext cx="91440" cy="68580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523951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Production-ready packaging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14400" y="551383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requirements.txt, GitHub-ready structure, Streamlit Cloud deploy path.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Snapshot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source: financial_fraud_detection_dataset.csv  •  5,000 transactions  •  14 raw columns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Transaction_Amount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0" y="1691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 amount of the transaction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Merchant_Category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2377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 Travel, Food, Electronics…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Payment_Method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3063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UPI, Card, PayPal, NetBanking…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749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Device_Type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0" y="3749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/ Desktop / POS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434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4434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of transaction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5120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Is_International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0" y="5120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/ 1 flag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Previous_Transactions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61120" y="1691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count for customer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2377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Average_Spend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61120" y="2377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average spend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3063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Account_Age_Days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61120" y="3063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of account in days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3749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Suspicious_Keyword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961120" y="3749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/ No flag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4434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Transaction_Date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961120" y="4434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 for time features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09360" y="5120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Fraudulent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961120" y="5120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label (0 / 1)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EE322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356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&amp; inspect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645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Shape, dtypes, missing values, target distribution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502920" cy="502920"/>
          </a:xfrm>
          <a:prstGeom prst="ellipse">
            <a:avLst/>
          </a:prstGeom>
          <a:solidFill>
            <a:srgbClr val="EE322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128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103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dates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423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Transaction_Date → datetime (dayfirst where needed)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502920" cy="502920"/>
          </a:xfrm>
          <a:prstGeom prst="ellipse">
            <a:avLst/>
          </a:prstGeom>
          <a:solidFill>
            <a:srgbClr val="EE322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900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duplicates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200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exact duplicate rows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703320"/>
            <a:ext cx="502920" cy="502920"/>
          </a:xfrm>
          <a:prstGeom prst="ellipse">
            <a:avLst/>
          </a:prstGeom>
          <a:solidFill>
            <a:srgbClr val="EE322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6732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Sanity checks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3977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amounts, invalid account age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480560"/>
            <a:ext cx="502920" cy="502920"/>
          </a:xfrm>
          <a:prstGeom prst="ellipse">
            <a:avLst/>
          </a:prstGeom>
          <a:solidFill>
            <a:srgbClr val="EE322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5445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4434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IDs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Transaction_ID, Customer_ID (not predictive)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5257800"/>
            <a:ext cx="502920" cy="502920"/>
          </a:xfrm>
          <a:prstGeom prst="ellipse">
            <a:avLst/>
          </a:prstGeom>
          <a:solidFill>
            <a:srgbClr val="EE322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3218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71600" y="5212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clean set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71600" y="5532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fraud_cleaned → ready for feature engineering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 — Key Insights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463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imbalance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~90% legitimate vs ~10% fraud. Accuracy alone is a poor metric; use ROC-AUC, Precision, Recall, F1.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28016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463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 patterns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18288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Fraudulent transactions often deviate from the customer’s average spend (high Amount-to-Avg ratio).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017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&amp; location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3832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rate varies by Merchant_Category and Location — useful group signals for models and charts.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283464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37960" y="3017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behaviour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33832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 of day and weekday show mild variation; included as engineered features.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8912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572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&amp; channel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49377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Device_Type and Payment_Method interact with amount and history in risk patterns.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438912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37960" y="4572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 keyword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37960" y="49377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keyword flag is a strong but sparse signal when present.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80160"/>
            <a:ext cx="109728" cy="82296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8988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features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Hour, Day, Month, Weekday, Is_Weekend — derived from Transaction_Date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194560"/>
            <a:ext cx="109728" cy="82296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30428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 features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26060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Amount_to_AvgSpend_Ratio, Amount_to_PrevTxn_Ratio — capture unusual spend behaviour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108960"/>
            <a:ext cx="109728" cy="82296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21868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35204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LabelEncoder on Merchant_Category, Payment_Method, Device_Type, Location, Suspicious_Keyword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023360"/>
            <a:ext cx="109728" cy="82296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13308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44348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StandardScaler on numeric columns for stable LR / distance-sensitive steps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937760"/>
            <a:ext cx="109728" cy="82296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04748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matrix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400" y="53492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model features + Fraudulent target → fraud_featured set for training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Modeling Approach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Train/Test split (80/20, stratified) → SMOTE on training fold only → train three models → compare on held-out test set.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1188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20240"/>
            <a:ext cx="3611880" cy="91440"/>
          </a:xfrm>
          <a:prstGeom prst="rect">
            <a:avLst/>
          </a:prstGeom>
          <a:solidFill>
            <a:srgbClr val="EE322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224028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9718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5661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baseline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interpretable coefficients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 calibrated probabilities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43400" y="1920240"/>
            <a:ext cx="361188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43400" y="1920240"/>
            <a:ext cx="3611880" cy="91440"/>
          </a:xfrm>
          <a:prstGeom prst="rect">
            <a:avLst/>
          </a:prstGeom>
          <a:solidFill>
            <a:srgbClr val="EE322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24028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6280" y="29718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17720" y="35661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of trees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non-linear interactions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feature importance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138160" y="1920240"/>
            <a:ext cx="361188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138160" y="1920240"/>
            <a:ext cx="3611880" cy="91440"/>
          </a:xfrm>
          <a:prstGeom prst="rect">
            <a:avLst/>
          </a:prstGeom>
          <a:solidFill>
            <a:srgbClr val="EE322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224028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21040" y="29718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412480" y="35661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tabular performance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Regularized, efficient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IMBALANCE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Imbalance → SMOTE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is rare (~9.6%). Training without balancing biases models toward the majority class. SMOTE synthesizes minority samples in feature space on the training set only.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035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31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SMOTE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set keeps natural imbalance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Legitimate  ≈ 90%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      ≈ 10%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model predicts “legit” most of the time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misses fraud (low recall).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2103120"/>
            <a:ext cx="5303520" cy="3200400"/>
          </a:xfrm>
          <a:prstGeom prst="roundRect">
            <a:avLst>
              <a:gd name="adj" fmla="val 2857"/>
            </a:avLst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2331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SMOTE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283464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fraud samples added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until classes are balanced on train.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set stays untouched (real distribution).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better recall &amp; ROC-AUC on fraud.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 Comparison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on held-out test set (stratified). Best model by ROC-AUC is used for live predictions in the dashboard.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2560320"/>
        </p:xfrm>
        <a:graphic>
          <a:graphicData uri="http://schemas.openxmlformats.org/drawingml/2006/table">
            <a:tbl>
              <a:tblPr/>
              <a:tblGrid>
                <a:gridCol w="2926080"/>
                <a:gridCol w="1645920"/>
                <a:gridCol w="1645920"/>
                <a:gridCol w="1645920"/>
                <a:gridCol w="1645920"/>
                <a:gridCol w="155448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F1-Score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ROC-AUC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Logistic Regression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~0.82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~0.35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~0.55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~0.34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~0.82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~0.85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~0.40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~0.48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~0.31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~0.83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XGBoost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~0.84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~0.38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~0.45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~0.28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~0.81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Exact numbers vary slightly by run. Dashboard trains live and displays the current best ROC-AUC on the Overview KPI row.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51206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5349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selection metric: ROC-AUC  •  Secondary: F1 / Recall on fraud class  •  Confusion matrix &amp; ROC curves shown in dashboard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Dashboard — Final Product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multi-page professional UI that wraps the full ML pipeline for business users and analysts.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194560" cy="40233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83080"/>
            <a:ext cx="2194560" cy="73152"/>
          </a:xfrm>
          <a:prstGeom prst="rect">
            <a:avLst/>
          </a:prstGeom>
          <a:solidFill>
            <a:srgbClr val="EE322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0574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" y="3246120"/>
            <a:ext cx="1920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KPI cards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by category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by location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 distribution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88920" y="1783080"/>
            <a:ext cx="2194560" cy="40233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88920" y="1783080"/>
            <a:ext cx="2194560" cy="73152"/>
          </a:xfrm>
          <a:prstGeom prst="rect">
            <a:avLst/>
          </a:prstGeom>
          <a:solidFill>
            <a:srgbClr val="EE322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05740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8036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Detector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926080" y="3246120"/>
            <a:ext cx="1920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form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/ Legit verdict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+ Risk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 + gauge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120640" y="1783080"/>
            <a:ext cx="2194560" cy="40233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120640" y="1783080"/>
            <a:ext cx="2194560" cy="73152"/>
          </a:xfrm>
          <a:prstGeom prst="rect">
            <a:avLst/>
          </a:prstGeom>
          <a:solidFill>
            <a:srgbClr val="EE322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05740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1208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257800" y="3246120"/>
            <a:ext cx="1920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category / location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time (hour, weekday)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 vs fraud charts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7452360" y="1783080"/>
            <a:ext cx="2194560" cy="40233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452360" y="1783080"/>
            <a:ext cx="2194560" cy="73152"/>
          </a:xfrm>
          <a:prstGeom prst="rect">
            <a:avLst/>
          </a:prstGeom>
          <a:solidFill>
            <a:srgbClr val="EE322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2057400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4380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Perf.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589520" y="3246120"/>
            <a:ext cx="1920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table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matrix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 curves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importance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9784080" y="1783080"/>
            <a:ext cx="2194560" cy="40233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9784080" y="1783080"/>
            <a:ext cx="2194560" cy="73152"/>
          </a:xfrm>
          <a:prstGeom prst="rect">
            <a:avLst/>
          </a:prstGeom>
          <a:solidFill>
            <a:srgbClr val="EE322F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1320" y="2057400"/>
            <a:ext cx="502920" cy="5029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87552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High-Risk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9921240" y="3246120"/>
            <a:ext cx="1920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probability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Sortable table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download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SCORING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Transaction Detector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enters transaction details → model returns probability, risk level, and an explainable reason.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Transaction Amount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Merchant Category (Type)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Payment Method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Device Type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International flag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Previous Transactions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Average Spend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Account Age (Days)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Hour &amp; Weekday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Suspicious Keyword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965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24688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FRAUD DETECTED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8F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8F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LEGITIMATE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365760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Probability  (e.g. 92%)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Level  HIGH / MEDIUM / LOW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 example: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“Amount unusually high vs average spend + international transaction”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Probability gauge chart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&amp; Interactive Analytics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148840" cy="14630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Txns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count of loaded data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34640" y="1325880"/>
            <a:ext cx="2148840" cy="14630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0" y="15087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Fraudulent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6080" y="20574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+ rate delta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20640" y="1325880"/>
            <a:ext cx="2148840" cy="14630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0" y="15087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Rate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12080" y="20574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of fraudulent rows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06640" y="1325880"/>
            <a:ext cx="2148840" cy="14630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0" y="15087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 at Risk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98080" y="20574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 of fraud amounts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92640" y="1325880"/>
            <a:ext cx="2148840" cy="14630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9784080" y="15087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ROC-AUC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784080" y="20574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best model score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0632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Plotly charts (interactive)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794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Fraud rate by Merchant Category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343400" y="352044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526280" y="3794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Fraud rate by Location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38160" y="352044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8321040" y="3794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Amount distribution (legit vs fraud)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61772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892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Fraud rate by Hour &amp; Weekday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343400" y="461772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4526280" y="4892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Box / scatter: Amount vs Average Spend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138160" y="461772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0" y="4892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Confusion matrix + ROC (all models)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21031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/ reviewer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42316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88920" y="2011680"/>
            <a:ext cx="21031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288036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UI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880360" y="3017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• KPIs • Forms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120640" y="2011680"/>
            <a:ext cx="21031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12080" y="3017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• Encode • Scale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8660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452360" y="2011680"/>
            <a:ext cx="21031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54380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543800" y="3017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SMOTE + RF / XGB / LR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41832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784080" y="2011680"/>
            <a:ext cx="2103120" cy="2011680"/>
          </a:xfrm>
          <a:prstGeom prst="roundRect">
            <a:avLst>
              <a:gd name="adj" fmla="val 4545"/>
            </a:avLst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987552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875520" y="3017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 • Risk • Reason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path: same models can be served later via FastAPI; Streamlit remains the primary interface for this project.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5321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109728" cy="128016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00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/ UI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 •  Custom CSS  •  Plotly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371600"/>
            <a:ext cx="55321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309360" y="1371600"/>
            <a:ext cx="109728" cy="128016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1600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7512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 •  NumPy  •  openpyxl / CSV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55321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834640"/>
            <a:ext cx="109728" cy="128016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063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3474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  •  XGBoost  •  imbalanced-learn (SMOTE)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2834640"/>
            <a:ext cx="55321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9360" y="2834640"/>
            <a:ext cx="109728" cy="128016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3063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75120" y="3474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  •  Precision / Recall / F1  •  Confusion Matrix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55321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297680"/>
            <a:ext cx="109728" cy="128016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526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400" y="4937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 •  Streamlit Community Cloud  •  requirements.txt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09360" y="4297680"/>
            <a:ext cx="55321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309360" y="4297680"/>
            <a:ext cx="109728" cy="128016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4526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675120" y="4937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PowerPoint / PDF project presentation (this deck)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Solutions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63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imbalance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0" y="14630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SMOTE on training fold only; evaluate on real distribution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40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.xls files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0" y="22402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text content; fall back to CSV/TSV parsers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017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upload in Streamlit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0" y="30175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via BytesIO + openpyxl; clear schema errors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794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live scoring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0" y="379476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fitted encoders &amp; scaler for every prediction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38912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572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0" y="457200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reason + probability + risk band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16636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349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path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0" y="53492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requirements.txt + GitHub + Streamlit Cloud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532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087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508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/ LIME explanations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1965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rule-based reasons with model-true feature attributions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280160"/>
            <a:ext cx="5532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5087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0" y="1508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&amp; alerts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0" y="1965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to live transaction feed and push high-risk alerts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5532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063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3063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model service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54480" y="35204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scoring API for mobile / other UIs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2834640"/>
            <a:ext cx="5532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3063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15200" y="3063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models &amp; tuning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0" y="35204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LightGBM, Optuna hyperparameter search, calibration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389120"/>
            <a:ext cx="5532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617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54480" y="4617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roles &amp; audit log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54480" y="5074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vs admin views; log every scored transaction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4389120"/>
            <a:ext cx="5532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4617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315200" y="4617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Broader data sources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315200" y="5074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Multi-bank schemas, graph features on entities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delivered a complete fraud detection product: from raw transactions to a live, explainable risk score inside a polished Streamlit dashboard.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116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2011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 and engineered a real-world style transaction dataset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5176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2651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 severe class imbalance with SMOTE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9184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88720" y="3291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Compared Logistic Regression, Random Forest, and XGBoost</a:t>
            </a:r>
            <a:endParaRPr lang="en-US" sz="15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31920"/>
            <a:ext cx="320040" cy="3200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88720" y="3931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 multi-tab dashboard with KPIs, Plotly analytics, and live scoring</a:t>
            </a:r>
            <a:endParaRPr lang="en-US" sz="15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572000"/>
            <a:ext cx="320040" cy="32004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88720" y="4572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Exposed fraud probability, risk level, and human-readable reasons</a:t>
            </a:r>
            <a:endParaRPr lang="en-US" sz="15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212080"/>
            <a:ext cx="320040" cy="32004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18872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Packaged for local run and Streamlit Community Cloud deploy</a:t>
            </a:r>
            <a:endParaRPr lang="en-US" sz="1500" dirty="0"/>
          </a:p>
        </p:txBody>
      </p:sp>
      <p:sp>
        <p:nvSpPr>
          <p:cNvPr id="17" name="Text 9"/>
          <p:cNvSpPr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5321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5532120" cy="9144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373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Imbalance first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address class imbalance before trusting accuracy.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1371600"/>
            <a:ext cx="55321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1371600"/>
            <a:ext cx="5532120" cy="9144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17373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pipeline for live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29400" y="22860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transforms must be frozen and reused at inference.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55321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566160"/>
            <a:ext cx="5532120" cy="9144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9319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to users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44805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+ risk band + reason beats a bare 0/1 label.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09360" y="3566160"/>
            <a:ext cx="55321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3566160"/>
            <a:ext cx="5532120" cy="9144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39319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mindset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29400" y="44805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is only useful when wrapped in a usable dashboard.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4630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560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8F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548640" y="3383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937760" y="4023360"/>
            <a:ext cx="2286000" cy="54864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4389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Fraud Detection System  •  ML + Streamlit Dashboard  •  2026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Fraud Detection System — Project Report</dc:title>
  <dc:subject>ML-based Fraud Detection with Streamlit Dashboard</dc:subject>
  <dc:creator>Financial Fraud Detection Project</dc:creator>
  <cp:lastModifiedBy>Financial Fraud Detection Project</cp:lastModifiedBy>
  <cp:revision>1</cp:revision>
  <dcterms:created xsi:type="dcterms:W3CDTF">2026-09-29T08:21:06Z</dcterms:created>
  <dcterms:modified xsi:type="dcterms:W3CDTF">2026-09-29T08:21:06Z</dcterms:modified>
</cp:coreProperties>
</file>